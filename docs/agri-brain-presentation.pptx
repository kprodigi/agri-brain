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ARI</c:v>
                </c:pt>
              </c:strCache>
            </c:strRef>
          </c:tx>
          <c:spPr>
            <a:solidFill>
              <a:srgbClr val="D32F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32F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Heatwave</c:v>
                  </c:pt>
                  <c:pt idx="1">
                    <c:v>Overproduction</c:v>
                  </c:pt>
                  <c:pt idx="2">
                    <c:v>Cyber Outage</c:v>
                  </c:pt>
                  <c:pt idx="3">
                    <c:v>Adaptive Pricing</c:v>
                  </c:pt>
                  <c:pt idx="4">
                    <c:v>Baseline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0.614</c:v>
                </c:pt>
                <c:pt idx="1">
                  <c:v>0.628</c:v>
                </c:pt>
                <c:pt idx="2">
                  <c:v>0.648</c:v>
                </c:pt>
                <c:pt idx="3">
                  <c:v>0.742</c:v>
                </c:pt>
                <c:pt idx="4">
                  <c:v>0.76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AGRI-BRAIN. This system makes intelligent routing decisions for fresh produce supply chains, combining Multi-Agentic AI, Model Context Protocol, Physics-Informed RAG, blockchain provenance, and Social Life-Cycle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 produce spoils during transport. Temperature deviations accelerate microbial decay. Demand is unpredictable. Every batch needs a routing decision: cold chain, local redistribution, or recovery. Each choice impacts carbon, labor, community food security, and price transparency.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Agri Brain uses a 12-phase decision pipeline. Sensor data → spoilage prediction → demand forecast → agent dispatch → MCP tools → piRAG retrieval → context features → policy network → action selection → SLCA impact → causal explanation → blockchain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specialized agents manage different lifecycle stages. Farm (0-18h), Processor (18-36h), Cooperative (12-30h overlay), Distributor (36-54h), Recovery (54h+). They communicate through typed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models: PINN spoilage model uses Arrhenius-Baranyi kinetics. LSTM demand forecaster uses 16 hidden units with Bollinger band regime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tools through Model Context Protocol. Compliance, spoilage forecast, SLCA, blockchain, governance, footprint, piRAG query, explain, context features, calculator, units,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piRAG maintains 20 domain documents across 6 categories. Hybrid BM25+TF-IDF retrieval with physics-informed Arrhenius-based reranking. piRAG consistently outperforms MCP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5D context vector from MCP+piRAG: compliance, forecast, retrieval, regulatory, recovery. Policy combines state features, regime tilt, SLCA bonus, role bias, and context modifier through softmax.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SLCA evaluates Carbon, Labor, Resilience, Transparency. ARI combines waste, SLCA, and shelf quality. Evidence is SHA-256 hashed, combined into Merkle tree, anchored on blockchain.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Ablation study across 5 scenarios and 8 modes. SLCA removal causes largest drop. PINN essential for spoilage. Combined MCP+piRAG improves ARI by 4-8%. piRAG &gt; MCP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AGRI-BRAIN achieves 73.7% ARI improvement, 76.1% waste reduction, 52.5% carbon reduction, 94.9% rerouting efficiency. Code available at github.com/kprodigi/AGRI-BRAIN.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6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AGRI-BRAIN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Supply-Chain Intelligence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Sustainable Food Logistics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0" y="2743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0" y="2743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320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Multi-Agentic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594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coordinating supply-chain agents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0515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051560"/>
            <a:ext cx="54864" cy="6400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Models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spoilage + LSTM demand forecast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828800"/>
            <a:ext cx="54864" cy="64008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tools via JSON-RPC 2.0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60604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26060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RAG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20-doc knowledge base with reranking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338328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3383280"/>
            <a:ext cx="54864" cy="64008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5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Provenance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tree + on-chain anchoring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41605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4160520"/>
            <a:ext cx="54864" cy="6400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Life-Cycle Assessment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4-pillar sustainability scoring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Food Waste in Supply Chains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 spoils during transport — every routing decision impacts sustainability, labor, and food security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54864" cy="1600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Excursions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breaks accelerate decay via Arrhenius kinetics. Each 10°C rise doubles spoilage rate. FDA requires leafy greens below 5°C (41°F).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54864" cy="1600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Uncertainty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Overproduction creates surplus waste. Underproduction causes shortages. Both need adaptive real-time routing intelligence.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91840"/>
            <a:ext cx="54864" cy="1600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Routing Actions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— long-haul refrigerated (110-180 km)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Redistribution — food banks (25-35 km)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— composting, animal feed (50 km)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91840"/>
            <a:ext cx="54864" cy="1600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emissions from refrigerated transport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conditions across the supply chain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food security and resilience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transparency for consumers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Architecture: 12-Phase Decision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280160" cy="411480"/>
          </a:xfrm>
          <a:prstGeom prst="rect">
            <a:avLst/>
          </a:prstGeom>
          <a:solidFill>
            <a:srgbClr val="546E7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IoT Sensors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188720"/>
            <a:ext cx="1280160" cy="411480"/>
          </a:xfrm>
          <a:prstGeom prst="rect">
            <a:avLst/>
          </a:prstGeom>
          <a:solidFill>
            <a:srgbClr val="D32F2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PINN Spoilage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188720"/>
            <a:ext cx="1280160" cy="411480"/>
          </a:xfrm>
          <a:prstGeom prst="rect">
            <a:avLst/>
          </a:prstGeom>
          <a:solidFill>
            <a:srgbClr val="F57C0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LSTM Forecast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1280160" cy="411480"/>
          </a:xfrm>
          <a:prstGeom prst="rect">
            <a:avLst/>
          </a:prstGeom>
          <a:solidFill>
            <a:srgbClr val="7B1FA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Agent Dispatch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188720"/>
            <a:ext cx="1280160" cy="41148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MCP Tools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1188720"/>
            <a:ext cx="1280160" cy="4114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piRAG Retrieval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737360"/>
            <a:ext cx="1280160" cy="41148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Context 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1737360"/>
            <a:ext cx="1280160" cy="41148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3736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Policy Network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1737360"/>
            <a:ext cx="1280160" cy="41148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Action Selection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737360"/>
            <a:ext cx="1280160" cy="41148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SLCA Impact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1737360"/>
            <a:ext cx="1280160" cy="41148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Causal Engine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1737360"/>
            <a:ext cx="1280160" cy="411480"/>
          </a:xfrm>
          <a:prstGeom prst="rect">
            <a:avLst/>
          </a:prstGeom>
          <a:solidFill>
            <a:srgbClr val="28359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0664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Blockchain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Pipeline Works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" y="2880360"/>
            <a:ext cx="274320" cy="27432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3736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capture temperature, humidity, shelf life, inventory in real-time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291840"/>
            <a:ext cx="274320" cy="27432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3736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computes spoilage risk (ρ). LSTM forecasts demand with regime detection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703320"/>
            <a:ext cx="274320" cy="27432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Contextualize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73736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check compliance. piRAG retrieves regulatory documents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114800"/>
            <a:ext cx="274320" cy="27432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73736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 context vector modifies policy. Agent selects optimal routing action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526280"/>
            <a:ext cx="274320" cy="27432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73736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SLCA scores 4 pillars. Evidence hashed into Merkle tree, anchored on-chain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03520" y="2468880"/>
            <a:ext cx="3474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394960" y="24688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6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12648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303520" y="2971800"/>
            <a:ext cx="3474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394960" y="2971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612648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303520" y="3474720"/>
            <a:ext cx="3474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394960" y="3474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6126480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303520" y="3977640"/>
            <a:ext cx="3474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394960" y="3977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612648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303520" y="4480560"/>
            <a:ext cx="3474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394960" y="4480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6126480" y="4480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Multi-Agentic Supply-Chain Agents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Agent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51760" y="1216152"/>
            <a:ext cx="822960" cy="2560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216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0–18h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90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preservation, first responder to spoilage alerts. Prioritizes local redistribution.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1143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92808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 Agent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51760" y="1965960"/>
            <a:ext cx="82296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965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18–36h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integrity, FDA compliance verification, surplus management.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18928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65760" y="2642616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42616"/>
            <a:ext cx="54864" cy="6400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88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Cooperative Agent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51760" y="2715768"/>
            <a:ext cx="822960" cy="25603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27157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12–30h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990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coordination, equity balancing across all SLCA pillars.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264261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65760" y="3392424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92424"/>
            <a:ext cx="54864" cy="6400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438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 Agent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651760" y="3465576"/>
            <a:ext cx="822960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9" name="Text 27"/>
          <p:cNvSpPr/>
          <p:nvPr/>
        </p:nvSpPr>
        <p:spPr>
          <a:xfrm>
            <a:off x="2651760" y="34655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36–54h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739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logistics optimization, carbon footprint minimization.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339242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365760" y="4142232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142232"/>
            <a:ext cx="54864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Agent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651760" y="4215384"/>
            <a:ext cx="822960" cy="2560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6" name="Text 34"/>
          <p:cNvSpPr/>
          <p:nvPr/>
        </p:nvSpPr>
        <p:spPr>
          <a:xfrm>
            <a:off x="2651760" y="4215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54h+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489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valorization: food bank (51%), animal feed (27%), composting (22%).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0" y="414223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Flow: SPOILAGE_ALERT → SURPLUS_ALERT → CAPACITY_UPDATE → REROUTE_REQUEST → ACK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Physics-Informed Predictive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36576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Spoilage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Arrhenius-Baranyi first-order ODE models microbial decay from temperature and humidity with a 12-hour lag phase.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dC/dt = −k_eff(T, RH) · 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k_ref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0.0021 h⁻¹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834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Ea/R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 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T_ref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4°C (277 K)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3200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λ_lag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hours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7744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(spoilage risk)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ensures valid predictions even for unseen temperature profiles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188720"/>
            <a:ext cx="4206240" cy="36576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Demand Forecast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4632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neural network with Bollinger band regime detection for volatility-aware demand prediction.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LSTM(x_t, h_{t-1})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834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hidden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2834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BPTT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200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Holt-Winters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3200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Bollinger Bands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steps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 (demand)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z-score classifies demand as normal, warning, or anomaly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Context Protocol — 12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interoperability layer — each agent invokes role-specific tool workflows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01168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check_compliance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temperature/humidity compliance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417320"/>
            <a:ext cx="2011680" cy="457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spoilage_forecast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Arrhenius decay prediction +6h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17320"/>
            <a:ext cx="20116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slca_lookup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scores per action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41732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417320"/>
            <a:ext cx="2011680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chain_query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audit trail history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60604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606040"/>
            <a:ext cx="2011680" cy="457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policy_oracle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policy checks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260604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606040"/>
            <a:ext cx="2011680" cy="4572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footprint_query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032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water footprint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3337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60604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606040"/>
            <a:ext cx="2011680" cy="457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pirag_query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retrieval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337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260604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58000" y="2606040"/>
            <a:ext cx="2011680" cy="4572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explanation generator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49440" y="3337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79476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3794760"/>
            <a:ext cx="2011680" cy="4572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context_features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 context vector readout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68880" y="379476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468880" y="3794760"/>
            <a:ext cx="201168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52" name="Text 50"/>
          <p:cNvSpPr/>
          <p:nvPr/>
        </p:nvSpPr>
        <p:spPr>
          <a:xfrm>
            <a:off x="25603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5603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evaluation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6032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379476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63440" y="3794760"/>
            <a:ext cx="201168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convert_units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7548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75488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8000" y="379476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58000" y="3794760"/>
            <a:ext cx="201168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62" name="Text 60"/>
          <p:cNvSpPr/>
          <p:nvPr/>
        </p:nvSpPr>
        <p:spPr>
          <a:xfrm>
            <a:off x="69494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simulator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94944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94944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Physics-Informed Retrieval Augmented Generation (piRAG)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Base: 20 Documents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920240" cy="502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USDA, FSMA, Codex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645920"/>
            <a:ext cx="1920240" cy="502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chain, inspection, storage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1920240" cy="502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258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standards, methodology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240280"/>
            <a:ext cx="1920240" cy="502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2258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Carbon, water, waste hierarchy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1920240" cy="502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8529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sensors, forecasting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2834640"/>
            <a:ext cx="1920240" cy="502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28529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3063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bank, recall, composting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4114800" cy="50292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piRAG &gt; MCP in all 5 scenarios — zero rank inversions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5-Step Retrieval Pipeline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937760" y="1691640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2167128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2167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2642616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2642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3118104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37760" y="3593592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4924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Integration &amp; Policy Network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5D Context Vector (ψ)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Severity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compliant → 1 = critical violation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Urgency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(0.1) → critical (1.0)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Confidence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piRAG citation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Pressure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154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if regulatory doc with score &gt; 0.4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83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Saturation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566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recent recovery decisions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 = Θ_context(3×5) × ψ(5×1)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Sign-constrained weights, online REINFORCE learning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Network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46320" y="1783080"/>
            <a:ext cx="3840480" cy="34747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1783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Features (φ) — 6D vector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194560"/>
            <a:ext cx="3840480" cy="34747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194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Logits — Θ(3×6) × 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606040"/>
            <a:ext cx="3840480" cy="34747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606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Tilt — + γ·τ (Bollinger)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017520"/>
            <a:ext cx="3840480" cy="34747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017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SLCA Bonus — sustainability incentives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429000"/>
            <a:ext cx="3840480" cy="34747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Bias — agent-specific [CC, LR, REC]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3840480"/>
            <a:ext cx="3840480" cy="34747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Modifier — + Θ_context × 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4251960"/>
            <a:ext cx="3840480" cy="34747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4251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π(a|s) → 3 action probs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Assessment &amp; Blockchain Provenance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01168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emissions/cap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143000"/>
            <a:ext cx="20116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fairness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48840"/>
            <a:ext cx="2011680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1488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2148840"/>
            <a:ext cx="2011680" cy="45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56032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directness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4297680" cy="4572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 = (1 − waste) × SLCA_composite × shelf_quality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5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Provenance Chain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846320" y="1691640"/>
            <a:ext cx="274320" cy="274320"/>
          </a:xfrm>
          <a:prstGeom prst="ellipse">
            <a:avLst/>
          </a:prstGeom>
          <a:solidFill>
            <a:srgbClr val="283593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5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Hashing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of each MCP output and piRAG citation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331720"/>
            <a:ext cx="274320" cy="274320"/>
          </a:xfrm>
          <a:prstGeom prst="ellipse">
            <a:avLst/>
          </a:prstGeom>
          <a:solidFill>
            <a:srgbClr val="283593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2286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5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 Tree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 — root hash fingerprints entire decision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971800"/>
            <a:ext cx="274320" cy="274320"/>
          </a:xfrm>
          <a:prstGeom prst="ellipse">
            <a:avLst/>
          </a:prstGeom>
          <a:solidFill>
            <a:srgbClr val="283593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5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Validation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guards, feasibility checks must pass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611880"/>
            <a:ext cx="274320" cy="274320"/>
          </a:xfrm>
          <a:prstGeom prst="ellipse">
            <a:avLst/>
          </a:prstGeom>
          <a:solidFill>
            <a:srgbClr val="283593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5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Anchor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57800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root on Hardhat/Solidity smart contract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Ablation Study: Component Contributions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188720"/>
          <a:ext cx="4389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657600"/>
            <a:ext cx="21031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6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73.7%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71600" y="3657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Improvement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14600" y="3657600"/>
            <a:ext cx="21031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6"/>
          <p:cNvSpPr/>
          <p:nvPr/>
        </p:nvSpPr>
        <p:spPr>
          <a:xfrm>
            <a:off x="251460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76.1%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11880" y="3657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4297680"/>
            <a:ext cx="21031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52.5%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371600" y="42976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Reduction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14600" y="4297680"/>
            <a:ext cx="21031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2"/>
          <p:cNvSpPr/>
          <p:nvPr/>
        </p:nvSpPr>
        <p:spPr>
          <a:xfrm>
            <a:off x="251460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94.9%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11880" y="42976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Rerouting Efficiency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When Component Removed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846320" y="160020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1600200"/>
            <a:ext cx="54864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SLCA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ARI drop (0.50–0.58)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224028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46320" y="2240280"/>
            <a:ext cx="54864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0" y="2267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PINN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increases (ARI 0.57–0.71)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46320" y="288036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46320" y="2880360"/>
            <a:ext cx="54864" cy="5486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RL Only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02920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SLCA bonus (ARI 0.55–0.66)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46320" y="352044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46320" y="3520440"/>
            <a:ext cx="54864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0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MCP/piRAG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02920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4–8% ARI improvement lost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846320" y="416052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846320" y="4160520"/>
            <a:ext cx="54864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0" y="4187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piRAG &gt; MCP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02920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 all 5 scenarios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9F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6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AGRI-BRAIN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Multi-Agentic AI • Model Context Protocol • Physics-Informed RAG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Life-Cycle Assessment • Blockchain Provenance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1463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73.7%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3017520"/>
            <a:ext cx="1463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76.1%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0896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3017520"/>
            <a:ext cx="1463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52.5%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4632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017520"/>
            <a:ext cx="1463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94.9%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github.com/kprodigi/AGRI-BRAIN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AGRI-BRAIN: Adaptive Supply-Chain Intelligence</dc:title>
  <dc:subject>PptxGenJS Presentation</dc:subject>
  <dc:creator>AGRI-BRAIN Team</dc:creator>
  <cp:lastModifiedBy>AGRI-BRAIN Team</cp:lastModifiedBy>
  <cp:revision>1</cp:revision>
  <dcterms:created xsi:type="dcterms:W3CDTF">2026-04-02T12:26:33Z</dcterms:created>
  <dcterms:modified xsi:type="dcterms:W3CDTF">2026-04-02T12:26:33Z</dcterms:modified>
</cp:coreProperties>
</file>